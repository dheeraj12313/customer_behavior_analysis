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a Sans Semi Bold"/>
      <p:regular r:id="rId17"/>
    </p:embeddedFont>
    <p:embeddedFont>
      <p:font typeface="Mona Sans Semi Bold"/>
      <p:regular r:id="rId18"/>
    </p:embeddedFont>
    <p:embeddedFont>
      <p:font typeface="Mona Sans Semi Bold"/>
      <p:regular r:id="rId19"/>
    </p:embeddedFont>
    <p:embeddedFont>
      <p:font typeface="Mona Sans Semi Bold"/>
      <p:regular r:id="rId20"/>
    </p:embeddedFont>
    <p:embeddedFont>
      <p:font typeface="Funnel Sans"/>
      <p:regular r:id="rId21"/>
    </p:embeddedFont>
    <p:embeddedFont>
      <p:font typeface="Funnel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Uncovering insights from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3,900 transactions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across product categories, demographics, and purchase patterns.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216" y="643890"/>
            <a:ext cx="5537359" cy="69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Dataset at a Glance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216" y="2303145"/>
            <a:ext cx="8312825" cy="46396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635966" y="1903571"/>
            <a:ext cx="4226719" cy="1370528"/>
          </a:xfrm>
          <a:prstGeom prst="roundRect">
            <a:avLst>
              <a:gd name="adj" fmla="val 6788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65043" y="2132648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3,900 Rows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9865043" y="2694861"/>
            <a:ext cx="3768566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Transactions analyzed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635966" y="3490317"/>
            <a:ext cx="4226719" cy="1370528"/>
          </a:xfrm>
          <a:prstGeom prst="roundRect">
            <a:avLst>
              <a:gd name="adj" fmla="val 6788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65043" y="3719393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18 Columns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9865043" y="4281607"/>
            <a:ext cx="3768566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Features per record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635966" y="5077063"/>
            <a:ext cx="4226719" cy="1370528"/>
          </a:xfrm>
          <a:prstGeom prst="roundRect">
            <a:avLst>
              <a:gd name="adj" fmla="val 6788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65043" y="5306139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37 Missing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9865043" y="5868352"/>
            <a:ext cx="3768566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Review Rating nulls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635966" y="6690836"/>
            <a:ext cx="4226719" cy="700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Demographics · Purchase details · Shopping behavior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61267"/>
            <a:ext cx="74687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 Preparation in Python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61020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2965252"/>
            <a:ext cx="3664744" cy="3048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Load &amp; Explore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629978"/>
            <a:ext cx="36647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685348" y="261020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348" y="2965252"/>
            <a:ext cx="3664863" cy="3048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0" name="Text 7"/>
          <p:cNvSpPr/>
          <p:nvPr/>
        </p:nvSpPr>
        <p:spPr>
          <a:xfrm>
            <a:off x="4685348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Clean &amp; Engineer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685348" y="3629978"/>
            <a:ext cx="36648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Imputed ratings · snake_case ·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511552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5470565"/>
            <a:ext cx="7556421" cy="3048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4" name="Text 11"/>
          <p:cNvSpPr/>
          <p:nvPr/>
        </p:nvSpPr>
        <p:spPr>
          <a:xfrm>
            <a:off x="793790" y="56448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Load to PostgreSQL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93790" y="613529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Cleaned DataFrame pushed to database for SQL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566" y="1671757"/>
            <a:ext cx="7177802" cy="638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Revenue &amp; Spending Insights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566" y="2877797"/>
            <a:ext cx="6347460" cy="3474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2137" y="2771180"/>
            <a:ext cx="2555558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Findings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572137" y="3274695"/>
            <a:ext cx="6350318" cy="1061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Male customers generate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2× more revenue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than female</a:t>
            </a:r>
            <a:endParaRPr lang="en-US" sz="16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839 discount users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still spent above average</a:t>
            </a:r>
            <a:endParaRPr lang="en-US" sz="160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Express shipping avg: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$60.48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vs. Standard: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$58.46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52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Customer Segments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0103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3116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4532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Loyal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02324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80% of all customers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50103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701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4532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502324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18% of all customers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50103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83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4532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New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502324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2% of all customers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6413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Segmented by purchase history.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Repeat buyers (&gt;5 purchases):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958 subscribed vs. 2,518 non-subscribed.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8658" y="1460183"/>
            <a:ext cx="8965406" cy="614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Top Products &amp; Discount Dependency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8658" y="2501741"/>
            <a:ext cx="245959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Top 5 by Rating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8658" y="3001089"/>
            <a:ext cx="3107888" cy="754142"/>
          </a:xfrm>
          <a:prstGeom prst="roundRect">
            <a:avLst>
              <a:gd name="adj" fmla="val 1455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5798" y="3001089"/>
            <a:ext cx="91440" cy="754142"/>
          </a:xfrm>
          <a:prstGeom prst="roundRect">
            <a:avLst>
              <a:gd name="adj" fmla="val 90379"/>
            </a:avLst>
          </a:prstGeom>
          <a:solidFill>
            <a:srgbClr val="373B48"/>
          </a:solidFill>
          <a:ln/>
        </p:spPr>
      </p:sp>
      <p:sp>
        <p:nvSpPr>
          <p:cNvPr id="6" name="Text 4"/>
          <p:cNvSpPr/>
          <p:nvPr/>
        </p:nvSpPr>
        <p:spPr>
          <a:xfrm>
            <a:off x="976789" y="3220641"/>
            <a:ext cx="2459593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Gloves — 3.86 </a:t>
            </a:r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⭐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967163" y="3001089"/>
            <a:ext cx="3108008" cy="754142"/>
          </a:xfrm>
          <a:prstGeom prst="roundRect">
            <a:avLst>
              <a:gd name="adj" fmla="val 1455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44303" y="3001089"/>
            <a:ext cx="91440" cy="754142"/>
          </a:xfrm>
          <a:prstGeom prst="roundRect">
            <a:avLst>
              <a:gd name="adj" fmla="val 90379"/>
            </a:avLst>
          </a:prstGeom>
          <a:solidFill>
            <a:srgbClr val="373B48"/>
          </a:solidFill>
          <a:ln/>
        </p:spPr>
      </p:sp>
      <p:sp>
        <p:nvSpPr>
          <p:cNvPr id="9" name="Text 7"/>
          <p:cNvSpPr/>
          <p:nvPr/>
        </p:nvSpPr>
        <p:spPr>
          <a:xfrm>
            <a:off x="4255294" y="3220641"/>
            <a:ext cx="2459593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Sandals — 3.84 </a:t>
            </a:r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⭐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88658" y="3925848"/>
            <a:ext cx="3107888" cy="754142"/>
          </a:xfrm>
          <a:prstGeom prst="roundRect">
            <a:avLst>
              <a:gd name="adj" fmla="val 1455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5798" y="3925848"/>
            <a:ext cx="91440" cy="754142"/>
          </a:xfrm>
          <a:prstGeom prst="roundRect">
            <a:avLst>
              <a:gd name="adj" fmla="val 90379"/>
            </a:avLst>
          </a:prstGeom>
          <a:solidFill>
            <a:srgbClr val="373B48"/>
          </a:solidFill>
          <a:ln/>
        </p:spPr>
      </p:sp>
      <p:sp>
        <p:nvSpPr>
          <p:cNvPr id="12" name="Text 10"/>
          <p:cNvSpPr/>
          <p:nvPr/>
        </p:nvSpPr>
        <p:spPr>
          <a:xfrm>
            <a:off x="976789" y="4145399"/>
            <a:ext cx="2459593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Boots — 3.82 </a:t>
            </a:r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⭐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967163" y="3925848"/>
            <a:ext cx="3108008" cy="754142"/>
          </a:xfrm>
          <a:prstGeom prst="roundRect">
            <a:avLst>
              <a:gd name="adj" fmla="val 1455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4303" y="3925848"/>
            <a:ext cx="91440" cy="754142"/>
          </a:xfrm>
          <a:prstGeom prst="roundRect">
            <a:avLst>
              <a:gd name="adj" fmla="val 90379"/>
            </a:avLst>
          </a:prstGeom>
          <a:solidFill>
            <a:srgbClr val="373B48"/>
          </a:solidFill>
          <a:ln/>
        </p:spPr>
      </p:sp>
      <p:sp>
        <p:nvSpPr>
          <p:cNvPr id="15" name="Text 13"/>
          <p:cNvSpPr/>
          <p:nvPr/>
        </p:nvSpPr>
        <p:spPr>
          <a:xfrm>
            <a:off x="4255294" y="4145399"/>
            <a:ext cx="2459593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Hat — 3.80 </a:t>
            </a:r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⭐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88658" y="4850606"/>
            <a:ext cx="3107888" cy="754142"/>
          </a:xfrm>
          <a:prstGeom prst="roundRect">
            <a:avLst>
              <a:gd name="adj" fmla="val 1455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5798" y="4850606"/>
            <a:ext cx="91440" cy="754142"/>
          </a:xfrm>
          <a:prstGeom prst="roundRect">
            <a:avLst>
              <a:gd name="adj" fmla="val 90379"/>
            </a:avLst>
          </a:prstGeom>
          <a:solidFill>
            <a:srgbClr val="373B48"/>
          </a:solidFill>
          <a:ln/>
        </p:spPr>
      </p:sp>
      <p:sp>
        <p:nvSpPr>
          <p:cNvPr id="18" name="Text 16"/>
          <p:cNvSpPr/>
          <p:nvPr/>
        </p:nvSpPr>
        <p:spPr>
          <a:xfrm>
            <a:off x="976789" y="5070158"/>
            <a:ext cx="2459593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Skirt — 3.78 </a:t>
            </a:r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⭐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562850" y="2501741"/>
            <a:ext cx="2795588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Highest Discount Rates</a:t>
            </a:r>
            <a:endParaRPr lang="en-US" sz="19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850" y="3085110"/>
            <a:ext cx="6385560" cy="34952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566" y="1671757"/>
            <a:ext cx="8516660" cy="638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Revenue by Age Group &amp; Category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566" y="2876494"/>
            <a:ext cx="6248400" cy="342017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137" y="2876494"/>
            <a:ext cx="6248400" cy="34201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566" y="1671757"/>
            <a:ext cx="5111234" cy="638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Subscription Status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566" y="2877797"/>
            <a:ext cx="6347460" cy="347439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42530" y="4346039"/>
            <a:ext cx="692426" cy="200446"/>
          </a:xfrm>
          <a:prstGeom prst="roundRect">
            <a:avLst>
              <a:gd name="adj" fmla="val 63866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994" y="4396150"/>
            <a:ext cx="100223" cy="1002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30448" y="4371095"/>
            <a:ext cx="441869" cy="15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No·73%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5667342" y="4371095"/>
            <a:ext cx="304975" cy="15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·73%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707405" y="4371095"/>
            <a:ext cx="26883" cy="15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342530" y="4613300"/>
            <a:ext cx="711871" cy="200446"/>
          </a:xfrm>
          <a:prstGeom prst="roundRect">
            <a:avLst>
              <a:gd name="adj" fmla="val 63866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994" y="4663412"/>
            <a:ext cx="100223" cy="1002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30448" y="4638356"/>
            <a:ext cx="461313" cy="15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Yes·27%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5686786" y="4638356"/>
            <a:ext cx="304975" cy="15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·27%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5726849" y="4638356"/>
            <a:ext cx="26883" cy="15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7572137" y="2771180"/>
            <a:ext cx="4014549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Subscribers vs. Non-Subscribers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7572137" y="3297793"/>
            <a:ext cx="3083004" cy="1899166"/>
          </a:xfrm>
          <a:prstGeom prst="roundRect">
            <a:avLst>
              <a:gd name="adj" fmla="val 452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99427" y="3525083"/>
            <a:ext cx="2555558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Subscribers (27%)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7799427" y="4028599"/>
            <a:ext cx="2628424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Avg spend: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$59.49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Revenue: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$62,645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10839331" y="3297793"/>
            <a:ext cx="3083123" cy="1899166"/>
          </a:xfrm>
          <a:prstGeom prst="roundRect">
            <a:avLst>
              <a:gd name="adj" fmla="val 452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1066621" y="3525083"/>
            <a:ext cx="2628543" cy="63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Non-Subscribers (73%)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11066621" y="4347924"/>
            <a:ext cx="2628543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Avg spend: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$59.87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Revenue: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$170,436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2772608"/>
            <a:ext cx="4919305" cy="268438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32274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3.9K customers · $59.76 avg purchase · 3.75 avg rating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interactive filters by gender, category, shipping type, and subscription status.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930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Business Recommendations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0190" y="2450783"/>
            <a:ext cx="453628" cy="4536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17306" y="25286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017306" y="301906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Promote exclusive subscriber benefits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3835598"/>
            <a:ext cx="453628" cy="45362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17306" y="3913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017306" y="440388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Reward repeat buyers → move to "Loyal"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0190" y="5220414"/>
            <a:ext cx="453628" cy="4536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17306" y="5298281"/>
            <a:ext cx="31463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017306" y="578870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Balance sales boosts with margin control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0190" y="6605230"/>
            <a:ext cx="453628" cy="45362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017306" y="6683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017306" y="717351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Focus on high-revenue age groups &amp; express-shipping users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2026-02-22T15:50:52Z</dcterms:created>
  <dcterms:modified xsi:type="dcterms:W3CDTF">2026-02-22T15:50:52Z</dcterms:modified>
</cp:coreProperties>
</file>